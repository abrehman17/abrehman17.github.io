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9" r:id="rId5"/>
    <p:sldId id="270" r:id="rId6"/>
    <p:sldId id="271" r:id="rId7"/>
    <p:sldId id="261" r:id="rId8"/>
    <p:sldId id="262" r:id="rId9"/>
    <p:sldId id="263" r:id="rId10"/>
    <p:sldId id="264" r:id="rId11"/>
    <p:sldId id="272" r:id="rId12"/>
    <p:sldId id="273" r:id="rId13"/>
    <p:sldId id="274" r:id="rId14"/>
    <p:sldId id="266" r:id="rId15"/>
    <p:sldId id="275" r:id="rId16"/>
    <p:sldId id="276" r:id="rId17"/>
    <p:sldId id="277" r:id="rId18"/>
    <p:sldId id="267" r:id="rId19"/>
  </p:sldIdLst>
  <p:sldSz cx="18288000" cy="10287000"/>
  <p:notesSz cx="6858000" cy="9144000"/>
  <p:embeddedFontLst>
    <p:embeddedFont>
      <p:font typeface="Codec Pro" panose="020B0604020202020204" charset="0"/>
      <p:regular r:id="rId20"/>
    </p:embeddedFont>
    <p:embeddedFont>
      <p:font typeface="Codec Pro Bold" panose="020B0604020202020204" charset="0"/>
      <p:regular r:id="rId21"/>
    </p:embeddedFont>
    <p:embeddedFont>
      <p:font typeface="Codec Pro Ultra-Bold" panose="020B0604020202020204" charset="0"/>
      <p:regular r:id="rId22"/>
    </p:embeddedFont>
    <p:embeddedFont>
      <p:font typeface="Gatwick Ultra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1111" y="3054439"/>
            <a:ext cx="7496175" cy="334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30"/>
              </a:lnSpc>
            </a:pPr>
            <a:r>
              <a:rPr lang="en-US" sz="7275" b="1" spc="-181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WAD</a:t>
            </a:r>
          </a:p>
          <a:p>
            <a:pPr marL="0" lvl="0" indent="0" algn="ctr">
              <a:lnSpc>
                <a:spcPts val="8730"/>
              </a:lnSpc>
            </a:pPr>
            <a:r>
              <a:rPr lang="en-US" sz="7275" b="1" spc="-181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Project</a:t>
            </a:r>
          </a:p>
          <a:p>
            <a:pPr marL="0" lvl="0" indent="0" algn="ctr">
              <a:lnSpc>
                <a:spcPts val="8730"/>
              </a:lnSpc>
            </a:pPr>
            <a:r>
              <a:rPr lang="en-US" sz="7275" b="1" spc="-181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(</a:t>
            </a:r>
            <a:r>
              <a:rPr lang="en-US" sz="4400" b="1" spc="-181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Genz-gadgets</a:t>
            </a:r>
            <a:r>
              <a:rPr lang="en-US" sz="7275" b="1" spc="-181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)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0225" y="1504950"/>
            <a:ext cx="7496175" cy="47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INTRODUCTION TO OUR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0225" y="7238004"/>
            <a:ext cx="7496175" cy="17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Presented by:</a:t>
            </a:r>
          </a:p>
          <a:p>
            <a:pPr marL="457200" lvl="0" indent="-457200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Muhammad Hussain Abdulrehman</a:t>
            </a:r>
          </a:p>
          <a:p>
            <a:pPr marL="457200" lvl="0" indent="-457200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Muhammad Abu Bakar</a:t>
            </a:r>
          </a:p>
          <a:p>
            <a:pPr marL="457200" lvl="0" indent="-457200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99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Aitzaz-ul-Hassan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E6D2671-B144-ACEA-FC26-C729F2109176}"/>
              </a:ext>
            </a:extLst>
          </p:cNvPr>
          <p:cNvSpPr/>
          <p:nvPr/>
        </p:nvSpPr>
        <p:spPr>
          <a:xfrm>
            <a:off x="10392324" y="2156222"/>
            <a:ext cx="5753100" cy="5970198"/>
          </a:xfrm>
          <a:custGeom>
            <a:avLst/>
            <a:gdLst/>
            <a:ahLst/>
            <a:cxnLst/>
            <a:rect l="l" t="t" r="r" b="b"/>
            <a:pathLst>
              <a:path w="5753100" h="5970198">
                <a:moveTo>
                  <a:pt x="0" y="0"/>
                </a:moveTo>
                <a:lnTo>
                  <a:pt x="5753100" y="0"/>
                </a:lnTo>
                <a:lnTo>
                  <a:pt x="5753100" y="5970198"/>
                </a:lnTo>
                <a:lnTo>
                  <a:pt x="0" y="5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105025" y="2158401"/>
            <a:ext cx="5753100" cy="5970198"/>
          </a:xfrm>
          <a:custGeom>
            <a:avLst/>
            <a:gdLst/>
            <a:ahLst/>
            <a:cxnLst/>
            <a:rect l="l" t="t" r="r" b="b"/>
            <a:pathLst>
              <a:path w="5753100" h="5970198">
                <a:moveTo>
                  <a:pt x="0" y="0"/>
                </a:moveTo>
                <a:lnTo>
                  <a:pt x="5753100" y="0"/>
                </a:lnTo>
                <a:lnTo>
                  <a:pt x="5753100" y="5970198"/>
                </a:lnTo>
                <a:lnTo>
                  <a:pt x="0" y="5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296400" y="2414587"/>
            <a:ext cx="6886575" cy="5146290"/>
            <a:chOff x="0" y="-57150"/>
            <a:chExt cx="9182100" cy="6861720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9182100" cy="442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Introduction to Our Website's Purpose and Features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08526"/>
              <a:ext cx="9182100" cy="2096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dirty="0">
                  <a:latin typeface="Gatwick"/>
                </a:rPr>
                <a:t>Gen Z Gadgets: Your one-stop shop for affordable, cutting-edge tech. From earbuds to drones — we bring the latest gadgets that fit your style and budget.</a:t>
              </a:r>
            </a:p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Gatwick"/>
                  <a:ea typeface="Codec Pro"/>
                  <a:cs typeface="Codec Pro"/>
                  <a:sym typeface="Codec Pro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A7A7A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0225" y="3352800"/>
            <a:ext cx="4619625" cy="3231344"/>
            <a:chOff x="0" y="0"/>
            <a:chExt cx="650279" cy="454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0279" cy="454859"/>
            </a:xfrm>
            <a:custGeom>
              <a:avLst/>
              <a:gdLst/>
              <a:ahLst/>
              <a:cxnLst/>
              <a:rect l="l" t="t" r="r" b="b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2"/>
              <a:stretch>
                <a:fillRect l="-232" r="-23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34188" y="3352800"/>
            <a:ext cx="4619625" cy="3231344"/>
            <a:chOff x="0" y="0"/>
            <a:chExt cx="650279" cy="4548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0279" cy="454859"/>
            </a:xfrm>
            <a:custGeom>
              <a:avLst/>
              <a:gdLst/>
              <a:ahLst/>
              <a:cxnLst/>
              <a:rect l="l" t="t" r="r" b="b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>
              <a:blip r:embed="rId3"/>
              <a:stretch>
                <a:fillRect l="-232" r="-23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65501" y="3352800"/>
            <a:ext cx="4623063" cy="3231344"/>
            <a:chOff x="0" y="0"/>
            <a:chExt cx="650763" cy="454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0763" cy="454859"/>
            </a:xfrm>
            <a:custGeom>
              <a:avLst/>
              <a:gdLst/>
              <a:ahLst/>
              <a:cxnLst/>
              <a:rect l="l" t="t" r="r" b="b"/>
              <a:pathLst>
                <a:path w="650763" h="454859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r="-194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00225" y="6884194"/>
            <a:ext cx="4619625" cy="1246346"/>
            <a:chOff x="0" y="-66675"/>
            <a:chExt cx="6159500" cy="166179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527685"/>
              <a:ext cx="6159500" cy="106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The layout promotes user engagement and accessibility.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61595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Layout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34188" y="6884194"/>
            <a:ext cx="4479254" cy="1221752"/>
            <a:chOff x="0" y="-66675"/>
            <a:chExt cx="5972338" cy="162900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527685"/>
              <a:ext cx="5972338" cy="1034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The sound combination of black blue and white </a:t>
              </a:r>
              <a:r>
                <a:rPr lang="en-US" sz="2400" dirty="0" err="1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coior</a:t>
              </a:r>
              <a:endParaRPr lang="en-US" sz="2400" dirty="0">
                <a:solidFill>
                  <a:srgbClr val="3D3D3D"/>
                </a:solidFill>
                <a:latin typeface="Codec Pro"/>
                <a:ea typeface="Codec Pro"/>
                <a:cs typeface="Codec Pro"/>
                <a:sym typeface="Codec Pro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972338" cy="504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Color </a:t>
              </a:r>
              <a:r>
                <a:rPr lang="en-US" sz="2400" b="1" dirty="0" err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Pallete</a:t>
              </a:r>
              <a:endParaRPr lang="en-US" sz="2400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68150" y="6934200"/>
            <a:ext cx="4620413" cy="1196340"/>
            <a:chOff x="0" y="0"/>
            <a:chExt cx="6160551" cy="159512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527685"/>
              <a:ext cx="6160551" cy="106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Interactive elements increase engagement and usability.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6160551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Interactivity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105025" y="1504950"/>
            <a:ext cx="14077950" cy="7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Figma Design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297A-86A0-4F66-7641-B287F74C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B4C8E0-A019-44CF-F14F-D623A5A01B13}"/>
              </a:ext>
            </a:extLst>
          </p:cNvPr>
          <p:cNvGrpSpPr/>
          <p:nvPr/>
        </p:nvGrpSpPr>
        <p:grpSpPr>
          <a:xfrm>
            <a:off x="666750" y="118110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4F220E-2819-6971-866B-D071C169D646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2771B9-E18D-C38A-F841-4C3FE034D215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19F8C610-09E1-034E-151B-4157FC88287A}"/>
              </a:ext>
            </a:extLst>
          </p:cNvPr>
          <p:cNvSpPr txBox="1"/>
          <p:nvPr/>
        </p:nvSpPr>
        <p:spPr>
          <a:xfrm>
            <a:off x="2105025" y="1504950"/>
            <a:ext cx="14077950" cy="7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First Figma Design</a:t>
            </a:r>
          </a:p>
        </p:txBody>
      </p:sp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87450545-968B-706E-9CB2-42878AE23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079280"/>
            <a:ext cx="2224234" cy="48040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Picture 28" descr="A screenshot of a website&#10;&#10;AI-generated content may be incorrect.">
            <a:extLst>
              <a:ext uri="{FF2B5EF4-FFF2-40B4-BE49-F238E27FC236}">
                <a16:creationId xmlns:a16="http://schemas.microsoft.com/office/drawing/2014/main" id="{5DBF6CAD-7D8B-1C6A-5985-26DA9BDA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633" y="3079280"/>
            <a:ext cx="8364117" cy="4458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50C322A4-DCAC-1463-BAF4-D36C3A2C34D0}"/>
              </a:ext>
            </a:extLst>
          </p:cNvPr>
          <p:cNvSpPr txBox="1"/>
          <p:nvPr/>
        </p:nvSpPr>
        <p:spPr>
          <a:xfrm>
            <a:off x="6761695" y="8651812"/>
            <a:ext cx="4648200" cy="378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 dirty="0">
                <a:latin typeface="Codec Pro Ultra-Bold"/>
                <a:ea typeface="Codec Pro Ultra-Bold"/>
                <a:cs typeface="Codec Pro Ultra-Bold"/>
                <a:sym typeface="Codec Pro Ultra-Bold"/>
              </a:rPr>
              <a:t>Created By Aitzaz ul Hassan</a:t>
            </a:r>
          </a:p>
        </p:txBody>
      </p:sp>
    </p:spTree>
    <p:extLst>
      <p:ext uri="{BB962C8B-B14F-4D97-AF65-F5344CB8AC3E}">
        <p14:creationId xmlns:p14="http://schemas.microsoft.com/office/powerpoint/2010/main" val="174730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7B51-9D44-0DE4-0FAB-9A9FA9C1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D657E9-4E49-0AB5-1EFA-FA6F30B69423}"/>
              </a:ext>
            </a:extLst>
          </p:cNvPr>
          <p:cNvGrpSpPr/>
          <p:nvPr/>
        </p:nvGrpSpPr>
        <p:grpSpPr>
          <a:xfrm>
            <a:off x="666750" y="118110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C4B69B-1544-65CB-5C3D-9E1B7E233AC0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CDA645A-6EA8-CFFA-7C6B-AE55F14DDCDF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63D66EB-BCEA-EEE3-FE8F-4D9BD4CF2D8B}"/>
              </a:ext>
            </a:extLst>
          </p:cNvPr>
          <p:cNvSpPr txBox="1"/>
          <p:nvPr/>
        </p:nvSpPr>
        <p:spPr>
          <a:xfrm>
            <a:off x="2105025" y="1504950"/>
            <a:ext cx="14077950" cy="7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Second Figma Design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7E9442E-319A-BCAA-3CA2-BD39C9A13D55}"/>
              </a:ext>
            </a:extLst>
          </p:cNvPr>
          <p:cNvSpPr txBox="1"/>
          <p:nvPr/>
        </p:nvSpPr>
        <p:spPr>
          <a:xfrm>
            <a:off x="6560417" y="8708962"/>
            <a:ext cx="5167166" cy="378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 dirty="0">
                <a:latin typeface="Codec Pro Ultra-Bold"/>
                <a:ea typeface="Codec Pro Ultra-Bold"/>
                <a:cs typeface="Codec Pro Ultra-Bold"/>
                <a:sym typeface="Codec Pro Ultra-Bold"/>
              </a:rPr>
              <a:t>Created By Muhammad Abu Bakar</a:t>
            </a:r>
          </a:p>
        </p:txBody>
      </p:sp>
      <p:pic>
        <p:nvPicPr>
          <p:cNvPr id="7" name="Picture 6" descr="A screenshot of a device&#10;&#10;AI-generated content may be incorrect.">
            <a:extLst>
              <a:ext uri="{FF2B5EF4-FFF2-40B4-BE49-F238E27FC236}">
                <a16:creationId xmlns:a16="http://schemas.microsoft.com/office/drawing/2014/main" id="{BB6F9F67-3268-8660-A780-6E15C9966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733" y="3156047"/>
            <a:ext cx="8345067" cy="4436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Screenshot of a phone with a picture of a device&#10;&#10;AI-generated content may be incorrect.">
            <a:extLst>
              <a:ext uri="{FF2B5EF4-FFF2-40B4-BE49-F238E27FC236}">
                <a16:creationId xmlns:a16="http://schemas.microsoft.com/office/drawing/2014/main" id="{4ADD313D-2E7E-2BBF-F4E3-5850441B7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952473"/>
            <a:ext cx="2205184" cy="4843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349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44ED-24C8-BA78-31E4-AADA65F1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5DE54B-E6AF-BB1E-B98A-DACFFDFA2FD6}"/>
              </a:ext>
            </a:extLst>
          </p:cNvPr>
          <p:cNvGrpSpPr/>
          <p:nvPr/>
        </p:nvGrpSpPr>
        <p:grpSpPr>
          <a:xfrm>
            <a:off x="666750" y="118110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0E83E3-409B-0B38-7087-69A3A45BF1F2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5244CE-7B30-CE8D-666B-192DD7BDF42D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8F8BC51-85EB-1AE6-5B6B-494CC055E555}"/>
              </a:ext>
            </a:extLst>
          </p:cNvPr>
          <p:cNvSpPr txBox="1"/>
          <p:nvPr/>
        </p:nvSpPr>
        <p:spPr>
          <a:xfrm>
            <a:off x="2105025" y="1504950"/>
            <a:ext cx="14077950" cy="7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Third Figma Design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11210996-6644-7A4C-9834-821CA5322FE3}"/>
              </a:ext>
            </a:extLst>
          </p:cNvPr>
          <p:cNvSpPr txBox="1"/>
          <p:nvPr/>
        </p:nvSpPr>
        <p:spPr>
          <a:xfrm>
            <a:off x="6819900" y="8592831"/>
            <a:ext cx="4648200" cy="378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sz="2400" dirty="0">
                <a:latin typeface="Codec Pro Ultra-Bold"/>
                <a:ea typeface="Codec Pro Ultra-Bold"/>
                <a:cs typeface="Codec Pro Ultra-Bold"/>
                <a:sym typeface="Codec Pro Ultra-Bold"/>
              </a:rPr>
              <a:t>Created By </a:t>
            </a:r>
            <a:r>
              <a:rPr lang="en-US" sz="2400" dirty="0" err="1">
                <a:latin typeface="Codec Pro Ultra-Bold"/>
                <a:ea typeface="Codec Pro Ultra-Bold"/>
                <a:cs typeface="Codec Pro Ultra-Bold"/>
                <a:sym typeface="Codec Pro Ultra-Bold"/>
              </a:rPr>
              <a:t>Abd’al’Rehman</a:t>
            </a:r>
            <a:endParaRPr lang="en-US" sz="2400" dirty="0"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16CDEC-825A-7400-9AD3-3A0D9174F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304" y="3074516"/>
            <a:ext cx="8345065" cy="4467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A9B6500-44B9-99F5-F31A-47752099F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920687"/>
            <a:ext cx="2205184" cy="47755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458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A7A7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504950"/>
            <a:ext cx="1407795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>
                <a:solidFill>
                  <a:srgbClr val="3D3D3D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Implementation of Design 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72950" y="5390674"/>
            <a:ext cx="4314825" cy="1246346"/>
            <a:chOff x="0" y="-66675"/>
            <a:chExt cx="5753100" cy="1661795"/>
          </a:xfrm>
        </p:grpSpPr>
        <p:sp>
          <p:nvSpPr>
            <p:cNvPr id="9" name="TextBox 9"/>
            <p:cNvSpPr txBox="1"/>
            <p:nvPr/>
          </p:nvSpPr>
          <p:spPr>
            <a:xfrm>
              <a:off x="0" y="527685"/>
              <a:ext cx="5753100" cy="106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Responsive layout</a:t>
              </a: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 with intuitive navigation features.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753100" cy="504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Home Page</a:t>
              </a:r>
            </a:p>
          </p:txBody>
        </p:sp>
      </p:grpSp>
      <p:pic>
        <p:nvPicPr>
          <p:cNvPr id="12" name="Picture 11" descr="A screenshot of a computer shop&#10;&#10;AI-generated content may be incorrect.">
            <a:extLst>
              <a:ext uri="{FF2B5EF4-FFF2-40B4-BE49-F238E27FC236}">
                <a16:creationId xmlns:a16="http://schemas.microsoft.com/office/drawing/2014/main" id="{5CF26CA5-BDBE-3C65-5A15-E2692DAAF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816944"/>
            <a:ext cx="8296275" cy="5538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977337"/>
            <a:ext cx="14077950" cy="7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Implementation of Designs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810000" y="7986591"/>
            <a:ext cx="4391805" cy="1175589"/>
            <a:chOff x="0" y="27668"/>
            <a:chExt cx="5855740" cy="1567452"/>
          </a:xfrm>
        </p:grpSpPr>
        <p:sp>
          <p:nvSpPr>
            <p:cNvPr id="9" name="TextBox 9"/>
            <p:cNvSpPr txBox="1"/>
            <p:nvPr/>
          </p:nvSpPr>
          <p:spPr>
            <a:xfrm>
              <a:off x="0" y="527685"/>
              <a:ext cx="5753100" cy="106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Showcasing the elegant layout and functionality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40" y="27668"/>
              <a:ext cx="5753100" cy="504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Gadgets &amp; Cart Page</a:t>
              </a:r>
            </a:p>
          </p:txBody>
        </p:sp>
      </p:grpSp>
      <p:pic>
        <p:nvPicPr>
          <p:cNvPr id="12" name="Picture 11" descr="A screenshot of a device&#10;&#10;AI-generated content may be incorrect.">
            <a:extLst>
              <a:ext uri="{FF2B5EF4-FFF2-40B4-BE49-F238E27FC236}">
                <a16:creationId xmlns:a16="http://schemas.microsoft.com/office/drawing/2014/main" id="{52907E8F-622D-62FB-BDE8-F66FB9E90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028155"/>
            <a:ext cx="4143375" cy="5572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 descr="A screenshot of a shopping cart&#10;&#10;AI-generated content may be incorrect.">
            <a:extLst>
              <a:ext uri="{FF2B5EF4-FFF2-40B4-BE49-F238E27FC236}">
                <a16:creationId xmlns:a16="http://schemas.microsoft.com/office/drawing/2014/main" id="{0C88CDBF-05E5-FAD0-85EB-B83532DBD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028155"/>
            <a:ext cx="8915400" cy="5572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A7A7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504950"/>
            <a:ext cx="1407795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b="1" spc="-135" dirty="0">
                <a:solidFill>
                  <a:srgbClr val="1A1A1A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Implementation of Design 3</a:t>
            </a:r>
          </a:p>
        </p:txBody>
      </p:sp>
      <p:grpSp>
        <p:nvGrpSpPr>
          <p:cNvPr id="8" name="Group 8"/>
          <p:cNvGrpSpPr/>
          <p:nvPr/>
        </p:nvGrpSpPr>
        <p:grpSpPr>
          <a:xfrm rot="10800000" flipV="1">
            <a:off x="10905334" y="6280584"/>
            <a:ext cx="3810410" cy="1173526"/>
            <a:chOff x="0" y="-4335353"/>
            <a:chExt cx="5753100" cy="7225231"/>
          </a:xfrm>
        </p:grpSpPr>
        <p:sp>
          <p:nvSpPr>
            <p:cNvPr id="9" name="TextBox 9"/>
            <p:cNvSpPr txBox="1"/>
            <p:nvPr/>
          </p:nvSpPr>
          <p:spPr>
            <a:xfrm>
              <a:off x="0" y="213043"/>
              <a:ext cx="5753100" cy="106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Reflects all features and user interface choices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335353"/>
              <a:ext cx="5753100" cy="72252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Contact , Review </a:t>
              </a:r>
            </a:p>
            <a:p>
              <a:pPr marL="0" lvl="0" indent="0" algn="ctr">
                <a:lnSpc>
                  <a:spcPts val="3120"/>
                </a:lnSpc>
              </a:pPr>
              <a:r>
                <a:rPr lang="en-US" sz="2400" b="1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About pages</a:t>
              </a:r>
            </a:p>
            <a:p>
              <a:pPr marL="0" lvl="0" indent="0" algn="ctr">
                <a:lnSpc>
                  <a:spcPts val="3120"/>
                </a:lnSpc>
              </a:pPr>
              <a:endParaRPr lang="en-US" sz="2400" b="1" dirty="0">
                <a:solidFill>
                  <a:srgbClr val="3D3D3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endParaRPr>
            </a:p>
          </p:txBody>
        </p:sp>
      </p:grp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FEE84C-691F-CEA3-2AD2-BB9533C52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642" y="2418801"/>
            <a:ext cx="6245795" cy="3034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47A5D742-8801-A00E-940C-BA0ECE5B5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605" y="2455234"/>
            <a:ext cx="6280003" cy="3034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 descr="A screenshot of a website&#10;&#10;AI-generated content may be incorrect.">
            <a:extLst>
              <a:ext uri="{FF2B5EF4-FFF2-40B4-BE49-F238E27FC236}">
                <a16:creationId xmlns:a16="http://schemas.microsoft.com/office/drawing/2014/main" id="{480B0DDC-E61D-4697-6AC6-84114FD1A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812" y="5936079"/>
            <a:ext cx="6245796" cy="3034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105025" y="2158401"/>
            <a:ext cx="5753100" cy="5970198"/>
          </a:xfrm>
          <a:custGeom>
            <a:avLst/>
            <a:gdLst/>
            <a:ahLst/>
            <a:cxnLst/>
            <a:rect l="l" t="t" r="r" b="b"/>
            <a:pathLst>
              <a:path w="5753100" h="5970198">
                <a:moveTo>
                  <a:pt x="0" y="0"/>
                </a:moveTo>
                <a:lnTo>
                  <a:pt x="5753100" y="0"/>
                </a:lnTo>
                <a:lnTo>
                  <a:pt x="5753100" y="5970198"/>
                </a:lnTo>
                <a:lnTo>
                  <a:pt x="0" y="5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296400" y="2457450"/>
            <a:ext cx="6886575" cy="4722495"/>
            <a:chOff x="0" y="0"/>
            <a:chExt cx="9182100" cy="6296660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9182100" cy="442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Understanding Our Node.js Script Functionality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08525"/>
              <a:ext cx="9182100" cy="1588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The Node.js script serves as the backbone, </a:t>
              </a:r>
              <a:r>
                <a:rPr lang="en-US" sz="2400" b="1">
                  <a:solidFill>
                    <a:srgbClr val="3D3D3D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handling server requests</a:t>
              </a:r>
              <a:r>
                <a:rPr lang="en-US" sz="240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 and managing database interactions for our website.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35E1C-3813-8C7D-EA67-35F23695C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771631-6738-8DC5-DF69-A16701A21DFB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05EC180-2B0F-D8B0-B032-E0C30F13E586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7070C9D-B4E7-EAE3-D2AF-4EA86C528456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11ED152-8EAD-EDC3-10B0-1335F547DCC2}"/>
              </a:ext>
            </a:extLst>
          </p:cNvPr>
          <p:cNvGrpSpPr/>
          <p:nvPr/>
        </p:nvGrpSpPr>
        <p:grpSpPr>
          <a:xfrm>
            <a:off x="8913955" y="3977077"/>
            <a:ext cx="7078130" cy="2332845"/>
            <a:chOff x="-255407" y="-57149"/>
            <a:chExt cx="9437507" cy="3110459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19959F-79D6-DBC7-17B3-CA85C2804326}"/>
                </a:ext>
              </a:extLst>
            </p:cNvPr>
            <p:cNvSpPr txBox="1"/>
            <p:nvPr/>
          </p:nvSpPr>
          <p:spPr>
            <a:xfrm>
              <a:off x="0" y="-57149"/>
              <a:ext cx="9182100" cy="1055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Quick guide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4631E21-CF67-0DD0-D929-F77805114C7A}"/>
                </a:ext>
              </a:extLst>
            </p:cNvPr>
            <p:cNvSpPr txBox="1"/>
            <p:nvPr/>
          </p:nvSpPr>
          <p:spPr>
            <a:xfrm>
              <a:off x="-255407" y="2018668"/>
              <a:ext cx="9182100" cy="103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This is the complete structure of the backend folder structure in our project .</a:t>
              </a:r>
            </a:p>
          </p:txBody>
        </p:sp>
      </p:grp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23A887F-3067-982D-25A4-7664BB209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951" y="1736125"/>
            <a:ext cx="4876800" cy="6687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874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19898-6E94-AFE4-9A61-87ABC766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6A1955-FA24-7FAD-391C-15D7FD310475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B56CEF-6B40-6C1A-5C5F-3E91E276CFE9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D962D11-894B-10A8-0789-AF5BBC53D30B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A139EF3-93EA-E3F2-ECE1-D72AD7345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663" y="1256506"/>
            <a:ext cx="5674126" cy="29079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1BF7C83-B1BF-96B9-A482-E344FC233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3343077"/>
            <a:ext cx="4039164" cy="5630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1B9A74C-68EF-7413-C9AF-6C25F4B87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663" y="4762500"/>
            <a:ext cx="5674126" cy="4210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6" name="Group 6">
            <a:extLst>
              <a:ext uri="{FF2B5EF4-FFF2-40B4-BE49-F238E27FC236}">
                <a16:creationId xmlns:a16="http://schemas.microsoft.com/office/drawing/2014/main" id="{63C42209-5802-927E-30A9-13454EC35735}"/>
              </a:ext>
            </a:extLst>
          </p:cNvPr>
          <p:cNvGrpSpPr/>
          <p:nvPr/>
        </p:nvGrpSpPr>
        <p:grpSpPr>
          <a:xfrm>
            <a:off x="9328127" y="1313862"/>
            <a:ext cx="7182001" cy="6081355"/>
            <a:chOff x="296823" y="-3608102"/>
            <a:chExt cx="9576003" cy="8108473"/>
          </a:xfrm>
        </p:grpSpPr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B753919F-2BE8-97B5-722D-068A5F94DA2D}"/>
                </a:ext>
              </a:extLst>
            </p:cNvPr>
            <p:cNvSpPr txBox="1"/>
            <p:nvPr/>
          </p:nvSpPr>
          <p:spPr>
            <a:xfrm>
              <a:off x="296823" y="-3608102"/>
              <a:ext cx="9182100" cy="2166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All but Just about products</a:t>
              </a:r>
            </a:p>
          </p:txBody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5DC22A85-CCAB-9384-6ECE-1C7B922548BF}"/>
                </a:ext>
              </a:extLst>
            </p:cNvPr>
            <p:cNvSpPr txBox="1"/>
            <p:nvPr/>
          </p:nvSpPr>
          <p:spPr>
            <a:xfrm>
              <a:off x="4961421" y="285371"/>
              <a:ext cx="4911405" cy="42150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Here we are presenting the complete structure of a </a:t>
              </a:r>
              <a:r>
                <a:rPr lang="en-US" sz="2400" b="1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PRODUCT </a:t>
              </a: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(the Model, the Route and the Mongo Insertion)</a:t>
              </a:r>
              <a:r>
                <a:rPr lang="en-US" sz="2400" b="1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. The same we’ve implemented for CUSTOMERS, ORDERS and Messages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259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DC46-D7BC-C2C6-1F4F-F70BAEE8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A410C0-A5EA-FC19-CE53-BCDA754048B8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55AC2D-6C19-392C-2ACF-D1F67EA446CA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262354-6759-339E-8807-A8A72E4725C0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02558A-98FD-FE08-E375-EF4E7442A3F2}"/>
              </a:ext>
            </a:extLst>
          </p:cNvPr>
          <p:cNvGrpSpPr/>
          <p:nvPr/>
        </p:nvGrpSpPr>
        <p:grpSpPr>
          <a:xfrm>
            <a:off x="9047695" y="3977077"/>
            <a:ext cx="6944390" cy="3254349"/>
            <a:chOff x="-77087" y="-57149"/>
            <a:chExt cx="9259187" cy="4339131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4E96155-95D3-DC35-0D66-5152E2ED5CDE}"/>
                </a:ext>
              </a:extLst>
            </p:cNvPr>
            <p:cNvSpPr txBox="1"/>
            <p:nvPr/>
          </p:nvSpPr>
          <p:spPr>
            <a:xfrm>
              <a:off x="0" y="-57149"/>
              <a:ext cx="9182100" cy="2166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The Core : </a:t>
              </a:r>
            </a:p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The Server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D824C76-172F-F0F8-2D9B-AD1B40EC09C6}"/>
                </a:ext>
              </a:extLst>
            </p:cNvPr>
            <p:cNvSpPr txBox="1"/>
            <p:nvPr/>
          </p:nvSpPr>
          <p:spPr>
            <a:xfrm>
              <a:off x="-77087" y="2717281"/>
              <a:ext cx="9182100" cy="156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This part consists of the complete implementation of the server with all actors discussed above</a:t>
              </a:r>
            </a:p>
          </p:txBody>
        </p:sp>
      </p:grp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2D414AC-83FC-E6B5-D3D6-E2760D7B7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824805"/>
            <a:ext cx="6579940" cy="65097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650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105025" y="2158401"/>
            <a:ext cx="5753100" cy="5970198"/>
          </a:xfrm>
          <a:custGeom>
            <a:avLst/>
            <a:gdLst/>
            <a:ahLst/>
            <a:cxnLst/>
            <a:rect l="l" t="t" r="r" b="b"/>
            <a:pathLst>
              <a:path w="5753100" h="5970198">
                <a:moveTo>
                  <a:pt x="0" y="0"/>
                </a:moveTo>
                <a:lnTo>
                  <a:pt x="5753100" y="0"/>
                </a:lnTo>
                <a:lnTo>
                  <a:pt x="5753100" y="5970198"/>
                </a:lnTo>
                <a:lnTo>
                  <a:pt x="0" y="5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296400" y="2219326"/>
            <a:ext cx="6886575" cy="5420915"/>
            <a:chOff x="0" y="-57149"/>
            <a:chExt cx="9182100" cy="7227884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49"/>
              <a:ext cx="9182100" cy="4389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Client-Side JavaScript Implementation Journey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08524"/>
              <a:ext cx="9182100" cy="2462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dec Pro" panose="020B0604020202020204" charset="0"/>
                </a:rPr>
                <a:t>Embarked on a vanilla JavaScript journey to build an interactive e-commerce frontend from scratch. Mastered DOM manipulation, fetch API, and local Storage to create dynamic product grids and a persistent cart.</a:t>
              </a:r>
              <a:endPara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dec Pro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C6ED-B8F5-FA55-6EA9-B022BF7A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312809-E6C2-AB8C-3DA2-E0BBB17FF300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9041865-0F0F-6E1A-5A53-2B3E25695564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D968A1-E798-A2E0-9DFB-24EBB0FC95AE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9C1D260-CAE8-7E61-EDB7-09A3148A3BF2}"/>
              </a:ext>
            </a:extLst>
          </p:cNvPr>
          <p:cNvGrpSpPr/>
          <p:nvPr/>
        </p:nvGrpSpPr>
        <p:grpSpPr>
          <a:xfrm>
            <a:off x="8913955" y="3977077"/>
            <a:ext cx="7078130" cy="2332845"/>
            <a:chOff x="-255407" y="-57149"/>
            <a:chExt cx="9437507" cy="3110459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51E86CD-914E-3C53-8B4D-F50E73272227}"/>
                </a:ext>
              </a:extLst>
            </p:cNvPr>
            <p:cNvSpPr txBox="1"/>
            <p:nvPr/>
          </p:nvSpPr>
          <p:spPr>
            <a:xfrm>
              <a:off x="0" y="-57149"/>
              <a:ext cx="9182100" cy="1055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Quick guide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BCD613-CF8C-6514-AC2C-99C60818FDF4}"/>
                </a:ext>
              </a:extLst>
            </p:cNvPr>
            <p:cNvSpPr txBox="1"/>
            <p:nvPr/>
          </p:nvSpPr>
          <p:spPr>
            <a:xfrm>
              <a:off x="-255407" y="2018668"/>
              <a:ext cx="9182100" cy="103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This is the complete structure of the frontend folder structure in our project .</a:t>
              </a:r>
            </a:p>
          </p:txBody>
        </p:sp>
      </p:grp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FC6F95-605B-24B7-2167-48418B6FA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951" y="1433287"/>
            <a:ext cx="4876799" cy="66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5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8188-3257-B55A-5CAD-20542C7B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0590F2-F6CA-E18B-AC46-869C32F7A274}"/>
              </a:ext>
            </a:extLst>
          </p:cNvPr>
          <p:cNvGrpSpPr/>
          <p:nvPr/>
        </p:nvGrpSpPr>
        <p:grpSpPr>
          <a:xfrm>
            <a:off x="666750" y="602912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4F3D71-4ED9-609E-18E9-92807F4E4CC5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112867-D987-9534-0F16-FE944E671F67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449F54D-7898-523A-BE4B-271D5442B4FA}"/>
              </a:ext>
            </a:extLst>
          </p:cNvPr>
          <p:cNvGrpSpPr/>
          <p:nvPr/>
        </p:nvGrpSpPr>
        <p:grpSpPr>
          <a:xfrm>
            <a:off x="9814148" y="3543300"/>
            <a:ext cx="7078130" cy="2207237"/>
            <a:chOff x="-255407" y="-57149"/>
            <a:chExt cx="9437507" cy="2942981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A9ADCDD-8994-ABE4-2AA2-87C8BABAFF6D}"/>
                </a:ext>
              </a:extLst>
            </p:cNvPr>
            <p:cNvSpPr txBox="1"/>
            <p:nvPr/>
          </p:nvSpPr>
          <p:spPr>
            <a:xfrm>
              <a:off x="0" y="-57149"/>
              <a:ext cx="9182100" cy="216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54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DOM Manipulation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9D9A84-929E-6BBB-14A7-D2BF71B85F41}"/>
                </a:ext>
              </a:extLst>
            </p:cNvPr>
            <p:cNvSpPr txBox="1"/>
            <p:nvPr/>
          </p:nvSpPr>
          <p:spPr>
            <a:xfrm>
              <a:off x="-255407" y="2381250"/>
              <a:ext cx="9182100" cy="504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Complete DOM structure explanation  .</a:t>
              </a:r>
            </a:p>
          </p:txBody>
        </p:sp>
      </p:grp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A29637E-4E35-432F-D1C2-C20EEB845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482" y="1967399"/>
            <a:ext cx="7237555" cy="60968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342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F0B7D-8A87-3089-E326-E37F20F0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BE3871-343E-B67C-48C6-818EE873AE43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2FD77C-E956-2F5F-2594-237FE09D784A}"/>
                </a:ext>
              </a:extLst>
            </p:cNvPr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CF26B6-EF75-3976-B88D-7E0C33CEE8CF}"/>
                </a:ext>
              </a:extLst>
            </p:cNvPr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DF0D938-503C-B373-4925-5735BBA73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273" y="2021407"/>
            <a:ext cx="5446612" cy="6116509"/>
          </a:xfrm>
          <a:prstGeom prst="rect">
            <a:avLst/>
          </a:prstGeom>
        </p:spPr>
      </p:pic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4923A68-4CB1-08BE-B001-0E8FC526F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15" y="2021408"/>
            <a:ext cx="4724400" cy="6116509"/>
          </a:xfrm>
          <a:prstGeom prst="rect">
            <a:avLst/>
          </a:prstGeom>
        </p:spPr>
      </p:pic>
      <p:grpSp>
        <p:nvGrpSpPr>
          <p:cNvPr id="14" name="Group 6">
            <a:extLst>
              <a:ext uri="{FF2B5EF4-FFF2-40B4-BE49-F238E27FC236}">
                <a16:creationId xmlns:a16="http://schemas.microsoft.com/office/drawing/2014/main" id="{B1530110-55AE-790A-1239-50767CE2B5AE}"/>
              </a:ext>
            </a:extLst>
          </p:cNvPr>
          <p:cNvGrpSpPr/>
          <p:nvPr/>
        </p:nvGrpSpPr>
        <p:grpSpPr>
          <a:xfrm>
            <a:off x="11620922" y="3992761"/>
            <a:ext cx="5960332" cy="2301477"/>
            <a:chOff x="1" y="-57149"/>
            <a:chExt cx="9240314" cy="3068634"/>
          </a:xfrm>
        </p:grpSpPr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56C804E-772C-9413-2CCF-EF8F2E266D26}"/>
                </a:ext>
              </a:extLst>
            </p:cNvPr>
            <p:cNvSpPr txBox="1"/>
            <p:nvPr/>
          </p:nvSpPr>
          <p:spPr>
            <a:xfrm>
              <a:off x="1" y="-57149"/>
              <a:ext cx="9240314" cy="10305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6480"/>
                </a:lnSpc>
              </a:pPr>
              <a:r>
                <a:rPr lang="en-US" sz="4800" b="1" spc="-135" dirty="0">
                  <a:solidFill>
                    <a:srgbClr val="3D3D3D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Functionalities</a:t>
              </a:r>
            </a:p>
          </p:txBody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6E5A4C4A-D62C-7447-D4F3-F70FAA7461B0}"/>
                </a:ext>
              </a:extLst>
            </p:cNvPr>
            <p:cNvSpPr txBox="1"/>
            <p:nvPr/>
          </p:nvSpPr>
          <p:spPr>
            <a:xfrm>
              <a:off x="620006" y="1446785"/>
              <a:ext cx="8088648" cy="15647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This is the complete structure of the frontend folder structure in our project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78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1562100"/>
            <a:ext cx="8324850" cy="1619250"/>
            <a:chOff x="0" y="0"/>
            <a:chExt cx="11099800" cy="2159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11099800" cy="1587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999"/>
                </a:lnSpc>
              </a:pPr>
              <a:r>
                <a:rPr lang="en-US" sz="7499" b="1" spc="-187">
                  <a:solidFill>
                    <a:srgbClr val="1A1A1A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Thank You!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599565"/>
              <a:ext cx="110998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 b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We appreciate your attention and inquiries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91600" y="6010295"/>
            <a:ext cx="6057900" cy="724920"/>
            <a:chOff x="0" y="-38100"/>
            <a:chExt cx="8077200" cy="966560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8077200" cy="520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</a:pPr>
              <a:r>
                <a:rPr lang="en-US" sz="2400" b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EMAIL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49526"/>
              <a:ext cx="8077200" cy="478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genzGadgets@gmail.com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91600" y="6989485"/>
            <a:ext cx="6057900" cy="724920"/>
            <a:chOff x="0" y="-38100"/>
            <a:chExt cx="8077200" cy="96656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8077200" cy="520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</a:pPr>
              <a:r>
                <a:rPr lang="en-US" sz="2400" b="1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PHONE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52" y="449526"/>
              <a:ext cx="7918048" cy="478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0318x-xxxxxxxx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91600" y="7968669"/>
            <a:ext cx="6057900" cy="724920"/>
            <a:chOff x="0" y="-38100"/>
            <a:chExt cx="8077200" cy="96656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8077200" cy="520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en-US" sz="2400" b="1" u="none" strike="noStrike" dirty="0">
                  <a:solidFill>
                    <a:srgbClr val="3D3D3D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SOCIAL MEDIA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49526"/>
              <a:ext cx="8077200" cy="478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</a:pPr>
              <a:r>
                <a:rPr lang="en-US" sz="2400" dirty="0">
                  <a:solidFill>
                    <a:srgbClr val="3D3D3D"/>
                  </a:solidFill>
                  <a:latin typeface="Codec Pro"/>
                  <a:ea typeface="Codec Pro"/>
                  <a:cs typeface="Codec Pro"/>
                  <a:sym typeface="Codec Pro"/>
                </a:rPr>
                <a:t>@genz_gadgets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rot="5400000">
            <a:off x="727580" y="2266950"/>
            <a:ext cx="7158835" cy="5753100"/>
          </a:xfrm>
          <a:custGeom>
            <a:avLst/>
            <a:gdLst/>
            <a:ahLst/>
            <a:cxnLst/>
            <a:rect l="l" t="t" r="r" b="b"/>
            <a:pathLst>
              <a:path w="7158835" h="5753100">
                <a:moveTo>
                  <a:pt x="0" y="0"/>
                </a:moveTo>
                <a:lnTo>
                  <a:pt x="7158835" y="0"/>
                </a:lnTo>
                <a:lnTo>
                  <a:pt x="7158835" y="5753100"/>
                </a:lnTo>
                <a:lnTo>
                  <a:pt x="0" y="5753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3EDA3A-298C-4B8A-F6A7-17DAB2EC9ED3}"/>
              </a:ext>
            </a:extLst>
          </p:cNvPr>
          <p:cNvSpPr/>
          <p:nvPr/>
        </p:nvSpPr>
        <p:spPr>
          <a:xfrm>
            <a:off x="3424724" y="2933700"/>
            <a:ext cx="3661876" cy="3581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dec Pro" panose="020B0604020202020204" charset="0"/>
              </a:rPr>
              <a:t>Any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355</Words>
  <Application>Microsoft Office PowerPoint</Application>
  <PresentationFormat>Custom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Arial</vt:lpstr>
      <vt:lpstr>Gatwick</vt:lpstr>
      <vt:lpstr>Codec Pro Bold</vt:lpstr>
      <vt:lpstr>Codec Pro Ultra-Bold</vt:lpstr>
      <vt:lpstr>Gatwick Ultra-Bold</vt:lpstr>
      <vt:lpstr>Codec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Website Development Project</dc:title>
  <dc:creator>Muhammad Hussain Abdulrehman</dc:creator>
  <dc:description>Presentation - Website Development Project</dc:description>
  <cp:lastModifiedBy>Muhammad Hussain Abdulrehman</cp:lastModifiedBy>
  <cp:revision>6</cp:revision>
  <dcterms:created xsi:type="dcterms:W3CDTF">2006-08-16T00:00:00Z</dcterms:created>
  <dcterms:modified xsi:type="dcterms:W3CDTF">2025-12-28T18:46:53Z</dcterms:modified>
  <dc:identifier>DAG8zuLc3f8</dc:identifier>
</cp:coreProperties>
</file>